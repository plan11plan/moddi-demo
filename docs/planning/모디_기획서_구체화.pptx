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92608" cy="6858000"/>
          </a:xfrm>
          <a:prstGeom prst="roundRect">
            <a:avLst>
              <a:gd name="adj" fmla="val 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01168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>
                <a:solidFill>
                  <a:srgbClr val="F5EFE6"/>
                </a:solidFill>
                <a:latin typeface="Apple SD Gothic Neo"/>
              </a:rPr>
              <a:t>모디</a:t>
            </a:r>
            <a:r>
              <a:rPr sz="6000" b="1">
                <a:solidFill>
                  <a:srgbClr val="E0673C"/>
                </a:solidFill>
                <a:latin typeface="Apple SD Gothic Neo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00400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EFE6"/>
                </a:solidFill>
                <a:latin typeface="Apple SD Gothic Neo"/>
              </a:rPr>
              <a:t>기획서 구체화 — Product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86200"/>
            <a:ext cx="105091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BEAE"/>
                </a:solidFill>
                <a:latin typeface="Apple SD Gothic Neo"/>
              </a:rPr>
              <a:t>"오늘 점심 뭐 먹지?"를 3분 안에 끝내는 AI 실시간 그룹 결정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페르소나 · 아하 모먼트 · 사용 Flow · 저니맵 · KPI · 설문조사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BEAE"/>
                </a:solidFill>
                <a:latin typeface="Apple SD Gothic Neo"/>
              </a:rPr>
              <a:t>스위프 웹 14기 4조  ·  MVP 배포: moddi-demo.vercel.app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이 문서가 다루는 6가지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91640"/>
            <a:ext cx="5071719" cy="11887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0673C"/>
                </a:solidFill>
                <a:latin typeface="Apple SD Gothic Ne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8928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A2422"/>
                </a:solidFill>
                <a:latin typeface="Apple SD Gothic Neo"/>
              </a:rPr>
              <a:t>페르소나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23500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B8079"/>
                </a:solidFill>
                <a:latin typeface="Apple SD Gothic Neo"/>
              </a:rPr>
              <a:t>누구의 어떤 문제를 푸는가 (JTBD)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691640"/>
            <a:ext cx="5071719" cy="11887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0673C"/>
                </a:solidFill>
                <a:latin typeface="Apple SD Gothic Ne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1727" y="18928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A2422"/>
                </a:solidFill>
                <a:latin typeface="Apple SD Gothic Neo"/>
              </a:rPr>
              <a:t>아하 모먼트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1727" y="23500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B8079"/>
                </a:solidFill>
                <a:latin typeface="Apple SD Gothic Neo"/>
              </a:rPr>
              <a:t>가치를 처음 체감하는 그 순간 두 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063240"/>
            <a:ext cx="5071719" cy="11887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2461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0673C"/>
                </a:solidFill>
                <a:latin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2644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A2422"/>
                </a:solidFill>
                <a:latin typeface="Apple SD Gothic Neo"/>
              </a:rPr>
              <a:t>사용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37216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B8079"/>
                </a:solidFill>
                <a:latin typeface="Apple SD Gothic Neo"/>
              </a:rPr>
              <a:t>상태기계·분기·이탈 방어 (배포 MVP 기준)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3063240"/>
            <a:ext cx="5071719" cy="11887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32461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0673C"/>
                </a:solidFill>
                <a:latin typeface="Apple SD Gothic Ne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1727" y="32644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A2422"/>
                </a:solidFill>
                <a:latin typeface="Apple SD Gothic Neo"/>
              </a:rPr>
              <a:t>저니맵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727" y="37216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B8079"/>
                </a:solidFill>
                <a:latin typeface="Apple SD Gothic Neo"/>
              </a:rPr>
              <a:t>페르소나별 감정선·페인·기회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434840"/>
            <a:ext cx="5071719" cy="11887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6177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0673C"/>
                </a:solidFill>
                <a:latin typeface="Apple SD Gothic Ne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8" y="46360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A2422"/>
                </a:solidFill>
                <a:latin typeface="Apple SD Gothic Neo"/>
              </a:rPr>
              <a:t>KPI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4248" y="50932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B8079"/>
                </a:solidFill>
                <a:latin typeface="Apple SD Gothic Neo"/>
              </a:rPr>
              <a:t>North Star · HEART · AARRR · 이벤트 설계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4434840"/>
            <a:ext cx="5071719" cy="11887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7327" y="46177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0673C"/>
                </a:solidFill>
                <a:latin typeface="Apple SD Gothic Neo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1727" y="46360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A2422"/>
                </a:solidFill>
                <a:latin typeface="Apple SD Gothic Neo"/>
              </a:rPr>
              <a:t>설문조사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727" y="5093208"/>
            <a:ext cx="37915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B8079"/>
                </a:solidFill>
                <a:latin typeface="Apple SD Gothic Neo"/>
              </a:rPr>
              <a:t>가설 검증 — 컨셉(사전) + 만족(사후)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모디가 푸는 문제, 그리고 지금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A2422"/>
                </a:solidFill>
                <a:latin typeface="Apple SD Gothic Neo"/>
              </a:rPr>
              <a:t>2~8인이 점심을 정할 때 </a:t>
            </a:r>
            <a:r>
              <a:rPr sz="1800" b="1">
                <a:solidFill>
                  <a:srgbClr val="C5552E"/>
                </a:solidFill>
                <a:latin typeface="Apple SD Gothic Neo"/>
              </a:rPr>
              <a:t>결정보다 '후보 모으기·의견 합치기'</a:t>
            </a:r>
            <a:r>
              <a:rPr sz="1800" b="0">
                <a:solidFill>
                  <a:srgbClr val="2A2422"/>
                </a:solidFill>
                <a:latin typeface="Apple SD Gothic Neo"/>
              </a:rPr>
              <a:t>에서 시간이 샌다.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606040"/>
            <a:ext cx="5071719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88920"/>
            <a:ext cx="4523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C5552E"/>
                </a:solidFill>
                <a:latin typeface="Apple SD Gothic Neo"/>
              </a:rPr>
              <a:t>콜드 스타트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27832"/>
            <a:ext cx="4523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B8079"/>
                </a:solidFill>
                <a:latin typeface="Apple SD Gothic Neo"/>
              </a:rPr>
              <a:t>빈 화면에서 후보를 사람이 채우는 노동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606040"/>
            <a:ext cx="5071719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788920"/>
            <a:ext cx="4523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C5552E"/>
                </a:solidFill>
                <a:latin typeface="Apple SD Gothic Neo"/>
              </a:rPr>
              <a:t>진입 마찰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227832"/>
            <a:ext cx="4523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B8079"/>
                </a:solidFill>
                <a:latin typeface="Apple SD Gothic Neo"/>
              </a:rPr>
              <a:t>가입·로그인 벽에서 참여자 이탈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97764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B8079"/>
                </a:solidFill>
                <a:latin typeface="Apple SD Gothic Neo"/>
              </a:rPr>
              <a:t>모디의 해법 — 한 줄 흐름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3891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방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4389120"/>
            <a:ext cx="2926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0673C"/>
                </a:solidFill>
                <a:latin typeface="Apple SD Gothic Ne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9816" y="43891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AI 후보 5개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4389120"/>
            <a:ext cx="2926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0673C"/>
                </a:solidFill>
                <a:latin typeface="Apple SD Gothic Ne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4" y="43891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링크·가입X 입장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4389120"/>
            <a:ext cx="2926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0673C"/>
                </a:solidFill>
                <a:latin typeface="Apple SD Gothic Ne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6952" y="43891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실시간 투표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4389120"/>
            <a:ext cx="2926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0673C"/>
                </a:solidFill>
                <a:latin typeface="Apple SD Gothic Neo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43891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자동 결정 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120640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A2422"/>
                </a:solidFill>
                <a:latin typeface="Apple SD Gothic Neo"/>
              </a:rPr>
              <a:t>지금 상태: </a:t>
            </a:r>
            <a:r>
              <a:rPr sz="1300" b="0">
                <a:solidFill>
                  <a:srgbClr val="8B8079"/>
                </a:solidFill>
                <a:latin typeface="Apple SD Gothic Neo"/>
              </a:rPr>
              <a:t>동작하는 MVP 배포 완료(강남역 점심 데모) — 이 기획서는 이를 실제 제품으로 구체화한다.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01 · 페르소나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우리는 누구를 위해 만드는가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91640"/>
            <a:ext cx="3320186" cy="38404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286298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A2422"/>
                </a:solidFill>
                <a:latin typeface="Apple SD Gothic Neo"/>
              </a:rPr>
              <a:t>🅰 김총대 (28)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04872"/>
            <a:ext cx="28629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B8079"/>
                </a:solidFill>
                <a:latin typeface="Apple SD Gothic Neo"/>
              </a:rPr>
              <a:t>방장 · 결정 주도자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346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5EFE6"/>
                </a:solidFill>
                <a:latin typeface="Apple SD Gothic Neo"/>
              </a:rPr>
              <a:t>P0 · 1순위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286298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5552E"/>
                </a:solidFill>
                <a:latin typeface="Apple SD Gothic Neo"/>
              </a:rPr>
              <a:t>"내가 또 정해? 다 같이 30초만 눌러줘"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28629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B8079"/>
                </a:solidFill>
                <a:latin typeface="Apple SD Gothic Neo"/>
              </a:rPr>
              <a:t>핵심 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56632"/>
            <a:ext cx="286298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A2422"/>
                </a:solidFill>
                <a:latin typeface="Apple SD Gothic Neo"/>
              </a:rPr>
              <a:t>후보 찾는 노동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5754" y="1691640"/>
            <a:ext cx="3320186" cy="38404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1786" y="1947672"/>
            <a:ext cx="286298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A2422"/>
                </a:solidFill>
                <a:latin typeface="Apple SD Gothic Neo"/>
              </a:rPr>
              <a:t>🅱 이아무 (24)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1786" y="2404872"/>
            <a:ext cx="28629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B8079"/>
                </a:solidFill>
                <a:latin typeface="Apple SD Gothic Neo"/>
              </a:rPr>
              <a:t>참여자 · 묻어가는 사람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1786" y="28346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5EFE6"/>
                </a:solidFill>
                <a:latin typeface="Apple SD Gothic Neo"/>
              </a:rPr>
              <a:t>P0 · 1순위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1786" y="3474720"/>
            <a:ext cx="286298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5552E"/>
                </a:solidFill>
                <a:latin typeface="Apple SD Gothic Neo"/>
              </a:rPr>
              <a:t>"가입 말고, 링크 주면 바로 누를게"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1786" y="4754880"/>
            <a:ext cx="28629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B8079"/>
                </a:solidFill>
                <a:latin typeface="Apple SD Gothic Neo"/>
              </a:rPr>
              <a:t>핵심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1786" y="5056632"/>
            <a:ext cx="286298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A2422"/>
                </a:solidFill>
                <a:latin typeface="Apple SD Gothic Neo"/>
              </a:rPr>
              <a:t>마찰 없는 의견 표출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0260" y="1691640"/>
            <a:ext cx="3320186" cy="38404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6292" y="1947672"/>
            <a:ext cx="286298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A2422"/>
                </a:solidFill>
                <a:latin typeface="Apple SD Gothic Neo"/>
              </a:rPr>
              <a:t>🅲 박모임 (31)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292" y="2404872"/>
            <a:ext cx="28629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B8079"/>
                </a:solidFill>
                <a:latin typeface="Apple SD Gothic Neo"/>
              </a:rPr>
              <a:t>정기 모임 운영자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6292" y="28346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8B8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5EFE6"/>
                </a:solidFill>
                <a:latin typeface="Apple SD Gothic Neo"/>
              </a:rPr>
              <a:t>P1 ·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292" y="3474720"/>
            <a:ext cx="286298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5552E"/>
                </a:solidFill>
                <a:latin typeface="Apple SD Gothic Neo"/>
              </a:rPr>
              <a:t>"매주 똑같은 고민 그만하고 싶어"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292" y="4754880"/>
            <a:ext cx="286298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B8079"/>
                </a:solidFill>
                <a:latin typeface="Apple SD Gothic Neo"/>
              </a:rPr>
              <a:t>핵심 가치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292" y="5056632"/>
            <a:ext cx="286298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A2422"/>
                </a:solidFill>
                <a:latin typeface="Apple SD Gothic Neo"/>
              </a:rPr>
              <a:t>기록 기반 재추천(리텐션)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669279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552E"/>
                </a:solidFill>
                <a:latin typeface="Apple SD Gothic Neo"/>
              </a:rPr>
              <a:t>설계 우선순위: </a:t>
            </a:r>
            <a:r>
              <a:rPr sz="1200" b="0">
                <a:solidFill>
                  <a:srgbClr val="8B8079"/>
                </a:solidFill>
                <a:latin typeface="Apple SD Gothic Neo"/>
              </a:rPr>
              <a:t>P0 MVP는 🅰가 방 만들고 🅱들이 우르르 투표하는 '일회성 빠른 결정'에 집중. 🅲(개인화·리텐션)는 P1.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01 · 페르소나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🅰 김총대 — 딥다이브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B8079"/>
                </a:solidFill>
                <a:latin typeface="Apple SD Gothic Neo"/>
              </a:rPr>
              <a:t>28 · 판교 스타트업 백엔드 3년차 · 팀 점심 주 5회 총대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94560"/>
            <a:ext cx="10509199" cy="169164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9960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5552E"/>
                </a:solidFill>
                <a:latin typeface="Apple SD Gothic Neo"/>
              </a:rPr>
              <a:t>JTBD — 해결하려는 진짜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61488"/>
            <a:ext cx="99605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400" b="0">
                <a:solidFill>
                  <a:srgbClr val="2A2422"/>
                </a:solidFill>
                <a:latin typeface="Apple SD Gothic Neo"/>
              </a:rPr>
              <a:t>기능: 모인 사람이 3분 안에 한 곳에 합의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400" b="0">
                <a:solidFill>
                  <a:srgbClr val="2A2422"/>
                </a:solidFill>
                <a:latin typeface="Apple SD Gothic Neo"/>
              </a:rPr>
              <a:t>감정: '또 나만 정한다'는 부담에서 해방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400" b="0">
                <a:solidFill>
                  <a:srgbClr val="2A2422"/>
                </a:solidFill>
                <a:latin typeface="Apple SD Gothic Neo"/>
              </a:rPr>
              <a:t>사회: '빠르게 정리해주는 사람'으로 보이기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14800"/>
            <a:ext cx="5071719" cy="1143000"/>
          </a:xfrm>
          <a:prstGeom prst="roundRect">
            <a:avLst>
              <a:gd name="adj" fmla="val 9000"/>
            </a:avLst>
          </a:prstGeom>
          <a:noFill/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279392"/>
            <a:ext cx="461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52E"/>
                </a:solidFill>
                <a:latin typeface="Apple SD Gothic Neo"/>
              </a:rPr>
              <a:t>성공의 정의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663440"/>
            <a:ext cx="461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A2422"/>
                </a:solidFill>
                <a:latin typeface="Apple SD Gothic Neo"/>
              </a:rPr>
              <a:t>5분 안에 '안 가본 집'이 모두 동의로 정해짐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4114800"/>
            <a:ext cx="5071719" cy="1143000"/>
          </a:xfrm>
          <a:prstGeom prst="roundRect">
            <a:avLst>
              <a:gd name="adj" fmla="val 9000"/>
            </a:avLst>
          </a:prstGeom>
          <a:noFill/>
          <a:ln w="1905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4279392"/>
            <a:ext cx="461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8B8079"/>
                </a:solidFill>
                <a:latin typeface="Apple SD Gothic Neo"/>
              </a:rPr>
              <a:t>페인포인트 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4663440"/>
            <a:ext cx="461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B8079"/>
                </a:solidFill>
                <a:latin typeface="Apple SD Gothic Neo"/>
              </a:rPr>
              <a:t>후보 수집이 매번 본인 노동 · '아무거나'에 교착 · 못 먹는 사람 뒤늦게 등장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486400"/>
            <a:ext cx="105091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C5552E"/>
                </a:solidFill>
                <a:latin typeface="Apple SD Gothic Neo"/>
              </a:rPr>
              <a:t>"내가 또 정해? 그냥 다 같이 30초만 눌러줘."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01 · 페르소나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🅱 이아무 — 딥다이브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B8079"/>
                </a:solidFill>
                <a:latin typeface="Apple SD Gothic Neo"/>
              </a:rPr>
              <a:t>24 · 경영 3학년 · 모임 식사 주 3~4회 · 설치/가입 강한 거부감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94560"/>
            <a:ext cx="10509199" cy="169164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9960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5552E"/>
                </a:solidFill>
                <a:latin typeface="Apple SD Gothic Neo"/>
              </a:rPr>
              <a:t>JTBD — 해결하려는 진짜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61488"/>
            <a:ext cx="99605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400" b="0">
                <a:solidFill>
                  <a:srgbClr val="2A2422"/>
                </a:solidFill>
                <a:latin typeface="Apple SD Gothic Neo"/>
              </a:rPr>
              <a:t>기능: 설치·가입 없이 선호(특히 비선호) 한 번에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400" b="0">
                <a:solidFill>
                  <a:srgbClr val="2A2422"/>
                </a:solidFill>
                <a:latin typeface="Apple SD Gothic Neo"/>
              </a:rPr>
              <a:t>감정: 까다롭게 안 보이며 '이건 빼줘'를 안전하게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400" b="0">
                <a:solidFill>
                  <a:srgbClr val="2A2422"/>
                </a:solidFill>
                <a:latin typeface="Apple SD Gothic Neo"/>
              </a:rPr>
              <a:t>사회: 민폐 없이 참여하고 한 표 보탠 소속감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14800"/>
            <a:ext cx="5071719" cy="1143000"/>
          </a:xfrm>
          <a:prstGeom prst="roundRect">
            <a:avLst>
              <a:gd name="adj" fmla="val 9000"/>
            </a:avLst>
          </a:prstGeom>
          <a:noFill/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279392"/>
            <a:ext cx="461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52E"/>
                </a:solidFill>
                <a:latin typeface="Apple SD Gothic Neo"/>
              </a:rPr>
              <a:t>성공의 정의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663440"/>
            <a:ext cx="461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A2422"/>
                </a:solidFill>
                <a:latin typeface="Apple SD Gothic Neo"/>
              </a:rPr>
              <a:t>가입 없이 10초 만에 입장해 '이건 빼줘(👎)'를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4114800"/>
            <a:ext cx="5071719" cy="1143000"/>
          </a:xfrm>
          <a:prstGeom prst="roundRect">
            <a:avLst>
              <a:gd name="adj" fmla="val 9000"/>
            </a:avLst>
          </a:prstGeom>
          <a:noFill/>
          <a:ln w="1905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4279392"/>
            <a:ext cx="461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8B8079"/>
                </a:solidFill>
                <a:latin typeface="Apple SD Gothic Neo"/>
              </a:rPr>
              <a:t>페인포인트 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4663440"/>
            <a:ext cx="461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B8079"/>
                </a:solidFill>
                <a:latin typeface="Apple SD Gothic Neo"/>
              </a:rPr>
              <a:t>가입·로그인 벽 · 긴 단톡 스크롤 · 내 '못 먹는 것'이 무시됨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486400"/>
            <a:ext cx="105091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C5552E"/>
                </a:solidFill>
                <a:latin typeface="Apple SD Gothic Neo"/>
              </a:rPr>
              <a:t>"가입 말고, 링크 주면 바로 누를게."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02 · 아하 모먼트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아하 모먼트 — 가치를 체감하는 그 순간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B8079"/>
                </a:solidFill>
                <a:latin typeface="Apple SD Gothic Neo"/>
              </a:rPr>
              <a:t>역할이 둘이라 아하도 둘. 둘 다 못 터지면 그룹 결정이 시작조차 안 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240280"/>
            <a:ext cx="5071719" cy="36118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" y="24963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아하 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514600"/>
            <a:ext cx="342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8B8079"/>
                </a:solidFill>
                <a:latin typeface="Apple SD Gothic Neo"/>
              </a:rPr>
              <a:t>방장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108960"/>
            <a:ext cx="4523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A2422"/>
                </a:solidFill>
                <a:latin typeface="Apple SD Gothic Neo"/>
              </a:rPr>
              <a:t>조건만 넣었는데
후보 5개가 즉시 뜬다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114799"/>
            <a:ext cx="4523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5552E"/>
                </a:solidFill>
                <a:latin typeface="Apple SD Gothic Neo"/>
              </a:rPr>
              <a:t>"내가 검색 안 해도 되네"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937760"/>
            <a:ext cx="452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B8079"/>
                </a:solidFill>
                <a:latin typeface="Apple SD Gothic Neo"/>
              </a:rPr>
              <a:t>방 생성 → 첫 후보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" y="5303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TTV ≤ 3초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0048" y="53035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도달률 ≥ 98%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240280"/>
            <a:ext cx="5071719" cy="36118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3047" y="24963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아하 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487" y="2514600"/>
            <a:ext cx="342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8B8079"/>
                </a:solidFill>
                <a:latin typeface="Apple SD Gothic Neo"/>
              </a:rPr>
              <a:t>참여자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108960"/>
            <a:ext cx="4523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A2422"/>
                </a:solidFill>
                <a:latin typeface="Apple SD Gothic Neo"/>
              </a:rPr>
              <a:t>가입창 없이 바로 투표,
표가 실시간으로 차오른다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4114799"/>
            <a:ext cx="4523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5552E"/>
                </a:solidFill>
                <a:latin typeface="Apple SD Gothic Neo"/>
              </a:rPr>
              <a:t>"가입도 안 했는데 벌써 같이 정하네"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937760"/>
            <a:ext cx="452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B8079"/>
                </a:solidFill>
                <a:latin typeface="Apple SD Gothic Neo"/>
              </a:rPr>
              <a:t>링크 클릭 → 첫 투표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047" y="5303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TTV ≤ 10초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7527" y="53035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도달률 ≥ 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943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552E"/>
                </a:solidFill>
                <a:latin typeface="Apple SD Gothic Neo"/>
              </a:rPr>
              <a:t>철칙: </a:t>
            </a:r>
            <a:r>
              <a:rPr sz="1200" b="0">
                <a:solidFill>
                  <a:srgbClr val="8B8079"/>
                </a:solidFill>
                <a:latin typeface="Apple SD Gothic Neo"/>
              </a:rPr>
              <a:t>아하 전에는 어떤 벽도 없다(가입·로그인 금지) · 빈 후보·표 유실은 아하를 즉사시킨다.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03 · 사용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사용 Flow — 상태기계 한 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74520"/>
            <a:ext cx="3198266" cy="182880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57400"/>
            <a:ext cx="274106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A2422"/>
                </a:solidFill>
                <a:latin typeface="Apple SD Gothic Neo"/>
              </a:rPr>
              <a:t>대기</a:t>
            </a:r>
            <a:r>
              <a:rPr sz="1100" b="0">
                <a:solidFill>
                  <a:srgbClr val="8B8079"/>
                </a:solidFill>
                <a:latin typeface="Apple SD Gothic Neo"/>
              </a:rPr>
              <a:t>  waiting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560320"/>
            <a:ext cx="274106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B8079"/>
                </a:solidFill>
                <a:latin typeface="Apple SD Gothic Neo"/>
              </a:rPr>
              <a:t>후보 카드 · [투표 시작] · URL 복사
참여자는 미리보기(비활성)·'N명 모이는 중'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9514" y="2468880"/>
            <a:ext cx="457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E0673C"/>
                </a:solidFill>
                <a:latin typeface="Apple SD Gothic Ne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6714" y="1874520"/>
            <a:ext cx="3198266" cy="182880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5314" y="2057400"/>
            <a:ext cx="274106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A2422"/>
                </a:solidFill>
                <a:latin typeface="Apple SD Gothic Neo"/>
              </a:rPr>
              <a:t>투표</a:t>
            </a:r>
            <a:r>
              <a:rPr sz="1100" b="0">
                <a:solidFill>
                  <a:srgbClr val="8B8079"/>
                </a:solidFill>
                <a:latin typeface="Apple SD Gothic Neo"/>
              </a:rPr>
              <a:t>  voting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5314" y="2560320"/>
            <a:ext cx="274106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B8079"/>
                </a:solidFill>
                <a:latin typeface="Apple SD Gothic Neo"/>
              </a:rPr>
              <a:t>후보 👍/👎 · 타이머 · 1초 폴링
방장만 [지금 마감]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4980" y="2468880"/>
            <a:ext cx="457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E0673C"/>
                </a:solidFill>
                <a:latin typeface="Apple SD Gothic Ne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2180" y="1874520"/>
            <a:ext cx="3198266" cy="1828800"/>
          </a:xfrm>
          <a:prstGeom prst="roundRect">
            <a:avLst>
              <a:gd name="adj" fmla="val 9000"/>
            </a:avLst>
          </a:prstGeom>
          <a:solidFill>
            <a:srgbClr val="2A2422"/>
          </a:solidFill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0780" y="2057400"/>
            <a:ext cx="274106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5EFE6"/>
                </a:solidFill>
                <a:latin typeface="Apple SD Gothic Neo"/>
              </a:rPr>
              <a:t>결정</a:t>
            </a:r>
            <a:r>
              <a:rPr sz="1100" b="0">
                <a:solidFill>
                  <a:srgbClr val="C9BEAE"/>
                </a:solidFill>
                <a:latin typeface="Apple SD Gothic Neo"/>
              </a:rPr>
              <a:t>  decided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780" y="2560320"/>
            <a:ext cx="274106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BEAE"/>
                </a:solidFill>
                <a:latin typeface="Apple SD Gothic Neo"/>
              </a:rPr>
              <a:t>🎉 1등 카드 + 컨페티
전원 동시 확인 · 잠김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3192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552E"/>
                </a:solidFill>
                <a:latin typeface="Apple SD Gothic Neo"/>
              </a:rPr>
              <a:t>전이: </a:t>
            </a:r>
            <a:r>
              <a:rPr sz="1250" b="0">
                <a:solidFill>
                  <a:srgbClr val="8B8079"/>
                </a:solidFill>
                <a:latin typeface="Apple SD Gothic Neo"/>
              </a:rPr>
              <a:t>[방장 투표 시작]  →  [타이머 0 · 자동 우승 공개]  또는  [방장 '지금 마감']  (서버 크론 없이 폴링 lazy 확정)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25112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A2422"/>
                </a:solidFill>
                <a:latin typeface="Apple SD Gothic Neo"/>
              </a:rPr>
              <a:t>핵심 설계 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90872"/>
            <a:ext cx="105091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300" b="0">
                <a:solidFill>
                  <a:srgbClr val="8B8079"/>
                </a:solidFill>
                <a:latin typeface="Apple SD Gothic Neo"/>
              </a:rPr>
              <a:t>방장이 시작 눌러야 타이머 ON — 링크 먼저 뿌리고 모인 뒤 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074920"/>
            <a:ext cx="105091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300" b="0">
                <a:solidFill>
                  <a:srgbClr val="8B8079"/>
                </a:solidFill>
                <a:latin typeface="Apple SD Gothic Neo"/>
              </a:rPr>
              <a:t>동점 → 그 점수에 먼저 도달한 후보 승(결정론적, 수동 개입 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458968"/>
            <a:ext cx="105091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300" b="0">
                <a:solidFill>
                  <a:srgbClr val="8B8079"/>
                </a:solidFill>
                <a:latin typeface="Apple SD Gothic Neo"/>
              </a:rPr>
              <a:t>방장도 투표자 — 화면 = 참여자 + 운영 버튼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843016"/>
            <a:ext cx="105091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300" b="0">
                <a:solidFill>
                  <a:srgbClr val="8B8079"/>
                </a:solidFill>
                <a:latin typeface="Apple SD Gothic Neo"/>
              </a:rPr>
              <a:t>후보 다 별로면 누구나 [+ 후보 직접 추가]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04 · 저니맵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저니맵 — 감정선과 아하 정점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A2422"/>
                </a:solidFill>
                <a:latin typeface="Apple SD Gothic Neo"/>
              </a:rPr>
              <a:t>🅰 김총대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10312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트리거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8501" y="210312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8501" y="222199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501" y="271576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폼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10312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E0673C"/>
          </a:solidFill>
          <a:ln w="1270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034" y="222199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Apple SD Gothic Neo"/>
              </a:rPr>
              <a:t>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0034" y="271576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5EFE6"/>
                </a:solidFill>
                <a:latin typeface="Apple SD Gothic Neo"/>
              </a:rPr>
              <a:t>후보 즉시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1567" y="210312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22199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567" y="271576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초대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3100" y="210312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3100" y="222199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3100" y="271576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투표 관찰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4633" y="210312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4633" y="222199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4633" y="271576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4314" y="1965960"/>
            <a:ext cx="175153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5552E"/>
                </a:solidFill>
                <a:latin typeface="Apple SD Gothic Neo"/>
              </a:rPr>
              <a:t>★ 아하①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4290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A2422"/>
                </a:solidFill>
                <a:latin typeface="Apple SD Gothic Neo"/>
              </a:rPr>
              <a:t>🅱 이아무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" y="384048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95935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45312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링크 받음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38501" y="384048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38501" y="395935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8501" y="445312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클릭·안도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0034" y="384048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0034" y="395935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0034" y="445312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가입X 입장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1567" y="384048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1567" y="395935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1567" y="445312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후보 훑기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93100" y="384048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E0673C"/>
          </a:solidFill>
          <a:ln w="1270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93100" y="395935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Apple SD Gothic Neo"/>
              </a:rPr>
              <a:t>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3100" y="445312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5EFE6"/>
                </a:solidFill>
                <a:latin typeface="Apple SD Gothic Neo"/>
              </a:rPr>
              <a:t>투표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4633" y="3840480"/>
            <a:ext cx="1660093" cy="105156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4633" y="3959352"/>
            <a:ext cx="16600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A2422"/>
                </a:solidFill>
                <a:latin typeface="Apple SD Gothic Neo"/>
              </a:rPr>
              <a:t>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4633" y="4453128"/>
            <a:ext cx="16600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8079"/>
                </a:solidFill>
                <a:latin typeface="Apple SD Gothic Neo"/>
              </a:rPr>
              <a:t>결과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47380" y="3703320"/>
            <a:ext cx="175153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5552E"/>
                </a:solidFill>
                <a:latin typeface="Apple SD Gothic Neo"/>
              </a:rPr>
              <a:t>★ 아하②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12064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552E"/>
                </a:solidFill>
                <a:latin typeface="Apple SD Gothic Neo"/>
              </a:rPr>
              <a:t>관찰: </a:t>
            </a:r>
            <a:r>
              <a:rPr sz="1200" b="0">
                <a:solidFill>
                  <a:srgbClr val="8B8079"/>
                </a:solidFill>
                <a:latin typeface="Apple SD Gothic Neo"/>
              </a:rPr>
              <a:t>아하①·② 모두 감정 곡선의 가장 가파른 상승 구간 — 흐려지면 전체 경험이 평탄해진다.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05 ·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KPI — 무엇을 측정하는가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91640"/>
            <a:ext cx="10509199" cy="1051560"/>
          </a:xfrm>
          <a:prstGeom prst="roundRect">
            <a:avLst>
              <a:gd name="adj" fmla="val 9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1874520"/>
            <a:ext cx="98691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North Star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194560"/>
            <a:ext cx="98691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5EFE6"/>
                </a:solidFill>
                <a:latin typeface="Apple SD Gothic Neo"/>
              </a:rPr>
              <a:t>주간 '완료된 그룹 결정' 수 </a:t>
            </a:r>
            <a:r>
              <a:rPr sz="1400" b="0">
                <a:solidFill>
                  <a:srgbClr val="C9BEAE"/>
                </a:solidFill>
                <a:latin typeface="Apple SD Gothic Neo"/>
              </a:rPr>
              <a:t>(decided &amp; 실투표자 ≥ 2명)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105091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A2422"/>
                </a:solidFill>
                <a:latin typeface="Apple SD Gothic Neo"/>
              </a:rPr>
              <a:t>HEART — 경험 품질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337560"/>
            <a:ext cx="1992111" cy="9601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474720"/>
            <a:ext cx="1772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52E"/>
                </a:solidFill>
                <a:latin typeface="Apple SD Gothic Neo"/>
              </a:rPr>
              <a:t>Happiness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886200"/>
            <a:ext cx="1772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A2422"/>
                </a:solidFill>
                <a:latin typeface="Apple SD Gothic Neo"/>
              </a:rPr>
              <a:t>만족 ≥4.0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0519" y="3337560"/>
            <a:ext cx="1992111" cy="9601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0247" y="3474720"/>
            <a:ext cx="1772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52E"/>
                </a:solidFill>
                <a:latin typeface="Apple SD Gothic Neo"/>
              </a:rPr>
              <a:t>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0247" y="3886200"/>
            <a:ext cx="1772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A2422"/>
                </a:solidFill>
                <a:latin typeface="Apple SD Gothic Neo"/>
              </a:rPr>
              <a:t>방당 투표자 ≥3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9791" y="3337560"/>
            <a:ext cx="1992111" cy="9601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9519" y="3474720"/>
            <a:ext cx="1772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52E"/>
                </a:solidFill>
                <a:latin typeface="Apple SD Gothic Neo"/>
              </a:rPr>
              <a:t>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9519" y="3886200"/>
            <a:ext cx="1772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A2422"/>
                </a:solidFill>
                <a:latin typeface="Apple SD Gothic Neo"/>
              </a:rPr>
              <a:t>아하 98%/60%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9063" y="3337560"/>
            <a:ext cx="1992111" cy="9601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8791" y="3474720"/>
            <a:ext cx="1772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52E"/>
                </a:solidFill>
                <a:latin typeface="Apple SD Gothic Neo"/>
              </a:rPr>
              <a:t>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8791" y="3886200"/>
            <a:ext cx="1772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A2422"/>
                </a:solidFill>
                <a:latin typeface="Apple SD Gothic Neo"/>
              </a:rPr>
              <a:t>재사용 의향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58335" y="3337560"/>
            <a:ext cx="1992111" cy="9601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8063" y="3474720"/>
            <a:ext cx="1772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52E"/>
                </a:solidFill>
                <a:latin typeface="Apple SD Gothic Neo"/>
              </a:rPr>
              <a:t>Task 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8063" y="3886200"/>
            <a:ext cx="1772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A2422"/>
                </a:solidFill>
                <a:latin typeface="Apple SD Gothic Neo"/>
              </a:rPr>
              <a:t>완료율 ≥80%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572000"/>
            <a:ext cx="105091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A2422"/>
                </a:solidFill>
                <a:latin typeface="Apple SD Gothic Neo"/>
              </a:rPr>
              <a:t>AARRR 활성화 퍼널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956048"/>
            <a:ext cx="2398699" cy="457200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링크 오픈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9947" y="4956048"/>
            <a:ext cx="3017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0673C"/>
                </a:solidFill>
                <a:latin typeface="Apple SD Gothic Neo"/>
              </a:rPr>
              <a:t>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41699" y="4956048"/>
            <a:ext cx="2398699" cy="457200"/>
          </a:xfrm>
          <a:prstGeom prst="roundRect">
            <a:avLst>
              <a:gd name="adj" fmla="val 50000"/>
            </a:avLst>
          </a:prstGeom>
          <a:solidFill>
            <a:srgbClr val="2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입장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0399" y="4956048"/>
            <a:ext cx="3017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0673C"/>
                </a:solidFill>
                <a:latin typeface="Apple SD Gothic Neo"/>
              </a:rPr>
              <a:t>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2151" y="4956048"/>
            <a:ext cx="2398699" cy="4572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첫 투표(아하②)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0851" y="4956048"/>
            <a:ext cx="3017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0673C"/>
                </a:solidFill>
                <a:latin typeface="Apple SD Gothic Neo"/>
              </a:rP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2603" y="4956048"/>
            <a:ext cx="2398699" cy="4572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결정 완료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05 ·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데모데이 스코어보드 — 발표 때 띄울 숫자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91640"/>
            <a:ext cx="4980279" cy="13258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89280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A2422"/>
                </a:solidFill>
                <a:latin typeface="Apple SD Gothic Neo"/>
              </a:rPr>
              <a:t>결정 완료율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5000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B8079"/>
                </a:solidFill>
                <a:latin typeface="Apple SD Gothic Neo"/>
              </a:rPr>
              <a:t>방 생성 → 확정 도달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4167" y="201168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5552E"/>
                </a:solidFill>
                <a:latin typeface="Apple SD Gothic Neo"/>
              </a:rPr>
              <a:t>≥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0167" y="1691640"/>
            <a:ext cx="4980279" cy="13258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9050">
            <a:solidFill>
              <a:srgbClr val="E06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189280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A2422"/>
                </a:solidFill>
                <a:latin typeface="Apple SD Gothic Neo"/>
              </a:rPr>
              <a:t>결정 소요시간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235000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B8079"/>
                </a:solidFill>
                <a:latin typeface="Apple SD Gothic Neo"/>
              </a:rPr>
              <a:t>방 생성 →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3087" y="201168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5552E"/>
                </a:solidFill>
                <a:latin typeface="Apple SD Gothic Neo"/>
              </a:rPr>
              <a:t>≤ 3분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46120"/>
            <a:ext cx="4980279" cy="13258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44728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A2422"/>
                </a:solidFill>
                <a:latin typeface="Apple SD Gothic Neo"/>
              </a:rPr>
              <a:t>방당 참여자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90448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B8079"/>
                </a:solidFill>
                <a:latin typeface="Apple SD Gothic Neo"/>
              </a:rPr>
              <a:t>투표 참여 인원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4167" y="356616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5552E"/>
                </a:solidFill>
                <a:latin typeface="Apple SD Gothic Neo"/>
              </a:rPr>
              <a:t>≥ 3명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167" y="3246120"/>
            <a:ext cx="4980279" cy="132588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4487" y="344728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A2422"/>
                </a:solidFill>
                <a:latin typeface="Apple SD Gothic Neo"/>
              </a:rPr>
              <a:t>AI 후보 채택률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904488"/>
            <a:ext cx="31514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B8079"/>
                </a:solidFill>
                <a:latin typeface="Apple SD Gothic Neo"/>
              </a:rPr>
              <a:t>최종 선택이 AI 후보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3087" y="356616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5552E"/>
                </a:solidFill>
                <a:latin typeface="Apple SD Gothic Neo"/>
              </a:rPr>
              <a:t>측정·증명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89204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552E"/>
                </a:solidFill>
                <a:latin typeface="Apple SD Gothic Neo"/>
              </a:rPr>
              <a:t>핵심: </a:t>
            </a:r>
            <a:r>
              <a:rPr sz="1200" b="0">
                <a:solidFill>
                  <a:srgbClr val="8B8079"/>
                </a:solidFill>
                <a:latin typeface="Apple SD Gothic Neo"/>
              </a:rPr>
              <a:t>정밀 대시보드보다 '심사위원이 직접 만든 방의 숫자'가 설득력 — 현장 참여형 데모와 결합.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091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673C"/>
                </a:solidFill>
                <a:latin typeface="Apple SD Gothic Neo"/>
              </a:rPr>
              <a:t>06 · 설문조사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2422"/>
                </a:solidFill>
                <a:latin typeface="Apple SD Gothic Neo"/>
              </a:rPr>
              <a:t>설문조사 — 가설을 데이터로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1732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B8079"/>
                </a:solidFill>
                <a:latin typeface="Apple SD Gothic Neo"/>
              </a:rPr>
              <a:t>모디</a:t>
            </a:r>
            <a:r>
              <a:rPr sz="9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900" b="0">
                <a:solidFill>
                  <a:srgbClr val="8B8079"/>
                </a:solidFill>
                <a:latin typeface="Apple SD Gothic Neo"/>
              </a:rPr>
              <a:t>  ·  기획서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4373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8079"/>
                </a:solidFill>
                <a:latin typeface="Apple SD Gothic Ne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105091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A2422"/>
                </a:solidFill>
                <a:latin typeface="Apple SD Gothic Neo"/>
              </a:rPr>
              <a:t>검증 가설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075688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075688"/>
            <a:ext cx="96862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A2422"/>
                </a:solidFill>
                <a:latin typeface="Apple SD Gothic Neo"/>
              </a:rPr>
              <a:t>첫 방에서 '결정 완료' 경험 → 재사용 의향 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32888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532888"/>
            <a:ext cx="96862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A2422"/>
                </a:solidFill>
                <a:latin typeface="Apple SD Gothic Neo"/>
              </a:rPr>
              <a:t>방당 실투표 ≥ 3명 → 만족·재사용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90088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5EFE6"/>
                </a:solidFill>
                <a:latin typeface="Apple SD Gothic Neo"/>
              </a:rPr>
              <a:t>H3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990088"/>
            <a:ext cx="96862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A2422"/>
                </a:solidFill>
                <a:latin typeface="Apple SD Gothic Neo"/>
              </a:rPr>
              <a:t>그룹 점심 결정은 충분히 자주·고통스러운 문제다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794760"/>
            <a:ext cx="5071719" cy="21031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4559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5552E"/>
                </a:solidFill>
                <a:latin typeface="Apple SD Gothic Neo"/>
              </a:rPr>
              <a:t>설문 A · 컨셉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61688"/>
            <a:ext cx="4559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B8079"/>
                </a:solidFill>
                <a:latin typeface="Apple SD Gothic Neo"/>
              </a:rPr>
              <a:t>사전 · 잠재 사용자 20~30명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4559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문제 빈도·심각도(H3)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현재 대안 &amp; 불편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가입 거부감·프라이버시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컨셉 사용 의향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794760"/>
            <a:ext cx="5071719" cy="210312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2700">
            <a:solidFill>
              <a:srgbClr val="E6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759" y="3977640"/>
            <a:ext cx="4559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5552E"/>
                </a:solidFill>
                <a:latin typeface="Apple SD Gothic Neo"/>
              </a:rPr>
              <a:t>설문 B · 만족·재사용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4361688"/>
            <a:ext cx="4559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B8079"/>
                </a:solidFill>
                <a:latin typeface="Apple SD Gothic Neo"/>
              </a:rPr>
              <a:t>사후 · 사용 직후 5~10명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759" y="4709160"/>
            <a:ext cx="4559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전반 만족도(5점)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재사용 의향(NPS-lite)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아하 체감 2종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0673C"/>
                </a:solidFill>
                <a:latin typeface="Apple SD Gothic Neo"/>
              </a:rPr>
              <a:t>· </a:t>
            </a:r>
            <a:r>
              <a:rPr sz="1250" b="0">
                <a:solidFill>
                  <a:srgbClr val="2A2422"/>
                </a:solidFill>
                <a:latin typeface="Apple SD Gothic Neo"/>
              </a:rPr>
              <a:t>개방형: 좋았던/불편한 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565392"/>
            <a:ext cx="12191695" cy="292608"/>
          </a:xfrm>
          <a:prstGeom prst="roundRect">
            <a:avLst>
              <a:gd name="adj" fmla="val 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0673C"/>
                </a:solidFill>
                <a:latin typeface="Apple SD Gothic Neo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5EFE6"/>
                </a:solidFill>
                <a:latin typeface="Apple SD Gothic Neo"/>
              </a:rPr>
              <a:t>기획서 → 실행으로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77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P0 (지금)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377440"/>
            <a:ext cx="89089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C9BEAE"/>
                </a:solidFill>
                <a:latin typeface="Apple SD Gothic Neo"/>
              </a:rPr>
              <a:t>강남역 점심 1카테고리 · 게스트 입장 · 실시간 투표 · 자동 결정 — 배포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2918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P0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291840"/>
            <a:ext cx="89089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C9BEAE"/>
                </a:solidFill>
                <a:latin typeface="Apple SD Gothic Neo"/>
              </a:rPr>
              <a:t>데모데이 스코어보드 + 설문 A/B로 H1·H2·H3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2062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06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EFE6"/>
                </a:solidFill>
                <a:latin typeface="Apple SD Gothic Neo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206240"/>
            <a:ext cx="89089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C9BEAE"/>
                </a:solidFill>
                <a:latin typeface="Apple SD Gothic Neo"/>
              </a:rPr>
              <a:t>개인화 추천(🅲 리텐션 루프) · 지도 연동 · AI 타이브레이크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5EFE6"/>
                </a:solidFill>
                <a:latin typeface="Apple SD Gothic Neo"/>
              </a:rPr>
              <a:t>모디</a:t>
            </a:r>
            <a:r>
              <a:rPr sz="1800" b="1">
                <a:solidFill>
                  <a:srgbClr val="E0673C"/>
                </a:solidFill>
                <a:latin typeface="Apple SD Gothic Neo"/>
              </a:rPr>
              <a:t>.</a:t>
            </a:r>
            <a:r>
              <a:rPr sz="1300" b="0">
                <a:solidFill>
                  <a:srgbClr val="C9BEAE"/>
                </a:solidFill>
                <a:latin typeface="Apple SD Gothic Neo"/>
              </a:rPr>
              <a:t>  같이 정하자  ·  moddi-demo.vercel.app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